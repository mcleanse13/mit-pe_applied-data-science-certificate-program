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  <p:sldMasterId id="2147483762" r:id="rId2"/>
  </p:sldMasterIdLst>
  <p:sldIdLst>
    <p:sldId id="256" r:id="rId3"/>
    <p:sldId id="257" r:id="rId4"/>
    <p:sldId id="258" r:id="rId5"/>
    <p:sldId id="263" r:id="rId6"/>
    <p:sldId id="260" r:id="rId7"/>
    <p:sldId id="259" r:id="rId8"/>
    <p:sldId id="261" r:id="rId9"/>
    <p:sldId id="271" r:id="rId10"/>
    <p:sldId id="267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46B55A-8729-4003-A7F3-D70449B76F54}" v="1444" dt="2022-12-16T05:14:15.794"/>
    <p1510:client id="{99A274B7-666C-4816-95FB-E71B49A5A14C}" v="21" dt="2022-12-16T00:56:33.119"/>
    <p1510:client id="{A1E4DDB2-A07E-45BE-84F7-9FB7F3DD0097}" v="78" dt="2021-12-14T18:07:43.9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733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928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582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969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43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7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91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381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352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187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055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0463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642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507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023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302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923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946259B-8396-46CD-AD42-FDEDA89DA2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5432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9458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1008460-8B2F-4AAA-A4E2-10730069204C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946259B-8396-46CD-AD42-FDEDA89DA2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870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161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6343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9392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32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6252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12/15/2022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6621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4768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786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12/15/2022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2768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1008460-8B2F-4AAA-A4E2-10730069204C}" type="datetimeFigureOut">
              <a:rPr lang="en-US" smtClean="0"/>
              <a:pPr/>
              <a:t>12/15/2022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946259B-8396-46CD-AD42-FDEDA89DA2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79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8.jpe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50AE69-AC86-4188-83E5-A856C4F1D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4CA156-2C9D-4F0C-B229-88D8B5E17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361ED3-EBE5-4EFC-8DA3-D0CE4BF2F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5105087-7F16-4C94-837C-C45445116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F2F3467-E50F-4A91-B27D-E324936A6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678BE03-AC84-4940-A7FD-5B143FE2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CFB57ED5-941D-44E2-9320-56A0A026F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1BE9A9-6FBF-4CF1-8F0C-BFCFF1FD9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653241"/>
            <a:ext cx="109087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2369E921-281A-1468-0E79-36E8F59B964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6"/>
          <a:srcRect l="10645" r="6422"/>
          <a:stretch/>
        </p:blipFill>
        <p:spPr>
          <a:xfrm>
            <a:off x="633999" y="1054100"/>
            <a:ext cx="5462001" cy="438267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4AE8163-578C-46A4-BF65-BD3AEEF2A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1" y="822325"/>
            <a:ext cx="5149596" cy="4846228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75A9B-4D0A-46AE-864D-1793274F2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220" y="1054100"/>
            <a:ext cx="4615180" cy="37360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50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Capstone project on music recommendation systems</a:t>
            </a:r>
            <a:r>
              <a:rPr lang="en-US" sz="500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  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6F56CC-F97A-40DF-9A88-6D8BF7A6A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5756954"/>
            <a:ext cx="109087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94818F1-2ACF-4181-B8B6-7637EB92B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1BF4AB6-91C5-40DA-AFC8-BBDA46BB2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A6D6306-ED75-4DC2-9BEF-160516C2FA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154384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042A32D3-CB0A-44A4-8ADE-848453307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13220" y="4583555"/>
            <a:ext cx="4615180" cy="66876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</a:rPr>
              <a:t>MIT Applied Data Science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</a:rPr>
              <a:t>Presentation Slides by Sean McLean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80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0E93D5FC-63A0-47A4-A8C7-365881F64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5C2F18C-671F-4ECE-96A3-EBAFC5796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89728584-DEE7-4174-9BB7-DAEBB71F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64C1E679-9F46-4A3D-8724-12767F0EB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DB7D69C-15F2-4834-A591-AF4B6F90B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D0669C1-CDCE-41C7-A9AB-65D9119F8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72" name="Rectangle 71">
              <a:extLst>
                <a:ext uri="{FF2B5EF4-FFF2-40B4-BE49-F238E27FC236}">
                  <a16:creationId xmlns:a16="http://schemas.microsoft.com/office/drawing/2014/main" id="{1F80B4EE-271C-45C6-9338-555D3B0C4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6FCF3DCC-E585-4F88-8F8B-4EABFEF06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F1AACF4D-AF22-463C-97CE-C34F0783C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99753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4A8DBB-68C8-4929-BA0D-B81FA200C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632247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Overview Of The Problem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6524329A-37E7-4025-B6E9-A97D40536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6492240" cy="2617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88CB2D-D352-4C6E-B131-E400AAF10D57}"/>
              </a:ext>
            </a:extLst>
          </p:cNvPr>
          <p:cNvSpPr txBox="1"/>
          <p:nvPr/>
        </p:nvSpPr>
        <p:spPr>
          <a:xfrm>
            <a:off x="680322" y="2039823"/>
            <a:ext cx="5632246" cy="39609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5715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400" dirty="0"/>
          </a:p>
          <a:p>
            <a:pPr marL="5715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Creation and implementation of a recommendation system that finds the 10 best songs for a user.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Constructing a streaming dataset that has the most variety of songs and artists.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1352AFF-A7D8-4A70-A5C7-7D21620A433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802" b="-3"/>
          <a:stretch/>
        </p:blipFill>
        <p:spPr>
          <a:xfrm>
            <a:off x="6984387" y="484632"/>
            <a:ext cx="4719805" cy="2836084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pic>
        <p:nvPicPr>
          <p:cNvPr id="29" name="Picture 2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72401DF-2F98-45CE-A9BC-68B35B3EB3E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231" r="-4" b="-4"/>
          <a:stretch/>
        </p:blipFill>
        <p:spPr>
          <a:xfrm>
            <a:off x="6984386" y="3632401"/>
            <a:ext cx="4719805" cy="274353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4318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146E45C-1450-4186-B501-74F221F89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EDDA48B-BC04-4915-ADA3-A1A9522EB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78C9D07A-5A22-4E55-B18A-47CF07E50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D71E629-0739-4A59-972B-A9E9A4500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8F383800-5CEA-471E-91C6-604E9C8F9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077B291-934C-486F-A7DD-F7B7568BF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FE41C29D-0817-42AE-A275-5552F6926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57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1AFE179-2F71-4019-9BED-8E72C0C07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557357"/>
            <a:ext cx="8978671" cy="1660332"/>
          </a:xfrm>
          <a:prstGeom prst="rect">
            <a:avLst/>
          </a:prstGeom>
          <a:solidFill>
            <a:srgbClr val="0D0D0D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1263F-749F-4464-9E62-7D590EF7B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0467" y="4775059"/>
            <a:ext cx="4258902" cy="1431019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r"/>
            <a:r>
              <a:rPr lang="en-US" sz="2000" dirty="0">
                <a:solidFill>
                  <a:srgbClr val="FFFFFF"/>
                </a:solidFill>
              </a:rPr>
              <a:t>Identifying Demographics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>
                <a:solidFill>
                  <a:srgbClr val="FFFFFF"/>
                </a:solidFill>
              </a:rPr>
              <a:t>Filtering Dataset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>
                <a:solidFill>
                  <a:srgbClr val="FFFFFF"/>
                </a:solidFill>
              </a:rPr>
              <a:t>Interactions by year.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270EE-EB63-43B0-A541-174CFA788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0467" y="4565237"/>
            <a:ext cx="2941547" cy="1633514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3600" u="sng" dirty="0">
                <a:solidFill>
                  <a:srgbClr val="FFFFFF"/>
                </a:solidFill>
              </a:rPr>
              <a:t>Approach For The Solution</a:t>
            </a:r>
          </a:p>
        </p:txBody>
      </p:sp>
      <p:pic>
        <p:nvPicPr>
          <p:cNvPr id="4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3D3D6874-9850-28F0-E21B-E1525D909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224" y="368858"/>
            <a:ext cx="10693750" cy="3880361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333AFE41-7E9F-4E28-8263-5B498AA7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2301" y="4557357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553E99F-4FAF-422B-B3EA-84AF1AA08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6" y="6210130"/>
            <a:ext cx="8968085" cy="27594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214FAEF-3E6C-41BB-9945-719809A69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2301" y="6210130"/>
            <a:ext cx="3080285" cy="27594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2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16DBFAD4-B5FC-442B-A283-381B01B1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B649DC7-8769-4383-A6F2-8F366BA7A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C67FD53-2686-4E0E-BA49-976F78F9A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C9768E99-C7B7-49BE-96DA-3BA56BAF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000" dirty="0">
                <a:latin typeface="Rockwell Condensed"/>
              </a:rPr>
              <a:t>Approach for the solution(cont.)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C3A9D90-B2E0-444A-9C6C-41F06C17C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9848" y="2121408"/>
            <a:ext cx="4759452" cy="40507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3600" dirty="0">
                <a:solidFill>
                  <a:schemeClr val="tx1"/>
                </a:solidFill>
              </a:rPr>
              <a:t>Usage of multiple algorithms.</a:t>
            </a:r>
            <a:endParaRPr lang="en-US" sz="3600" dirty="0">
              <a:solidFill>
                <a:schemeClr val="tx1"/>
              </a:solidFill>
              <a:effectLst/>
            </a:endParaRP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3600" dirty="0">
                <a:solidFill>
                  <a:schemeClr val="tx1"/>
                </a:solidFill>
              </a:rPr>
              <a:t>Fine tuning and optimizing the model.</a:t>
            </a:r>
            <a:endParaRPr lang="en-US" sz="3600" dirty="0">
              <a:solidFill>
                <a:schemeClr val="tx1"/>
              </a:solidFill>
              <a:effectLst/>
            </a:endParaRPr>
          </a:p>
          <a:p>
            <a:pPr indent="-182880">
              <a:lnSpc>
                <a:spcPct val="90000"/>
              </a:lnSpc>
              <a:buClr>
                <a:srgbClr val="9E3611"/>
              </a:buClr>
              <a:buFont typeface="Wingdings" pitchFamily="2" charset="2"/>
              <a:buChar char="§"/>
            </a:pPr>
            <a:r>
              <a:rPr lang="en-US" sz="3600" dirty="0">
                <a:solidFill>
                  <a:schemeClr val="tx1"/>
                </a:solidFill>
              </a:rPr>
              <a:t>Text Features</a:t>
            </a:r>
            <a:endParaRPr lang="en-US" sz="3600" dirty="0">
              <a:solidFill>
                <a:schemeClr val="tx1"/>
              </a:solidFill>
              <a:effectLst/>
            </a:endParaRPr>
          </a:p>
          <a:p>
            <a:pPr indent="-182880">
              <a:lnSpc>
                <a:spcPct val="90000"/>
              </a:lnSpc>
              <a:buClr>
                <a:srgbClr val="9E3611"/>
              </a:buClr>
              <a:buChar char="§"/>
            </a:pPr>
            <a:endParaRPr lang="en-US" dirty="0">
              <a:solidFill>
                <a:schemeClr val="tx1"/>
              </a:solidFill>
            </a:endParaRPr>
          </a:p>
          <a:p>
            <a:pPr indent="-182880">
              <a:lnSpc>
                <a:spcPct val="90000"/>
              </a:lnSpc>
              <a:buChar char="§"/>
            </a:pPr>
            <a:endParaRPr lang="en-US">
              <a:solidFill>
                <a:schemeClr val="tx1"/>
              </a:solidFill>
              <a:effectLst/>
            </a:endParaRPr>
          </a:p>
          <a:p>
            <a:pPr indent="-182880">
              <a:lnSpc>
                <a:spcPct val="90000"/>
              </a:lnSpc>
              <a:buChar char="§"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384AA2A2-32D0-410A-BF75-5FC333B46C0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4"/>
          <a:srcRect t="16601" r="9" b="9"/>
          <a:stretch/>
        </p:blipFill>
        <p:spPr>
          <a:xfrm>
            <a:off x="6361113" y="2193036"/>
            <a:ext cx="4773168" cy="3980688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175528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110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17" name="Rectangle 116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5" name="Rectangle 124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DFBAFD-58F1-421A-9044-C0E4F049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dirty="0">
                <a:solidFill>
                  <a:srgbClr val="FFFFFF"/>
                </a:solidFill>
              </a:rPr>
              <a:t>Key Findings &amp; Insights</a:t>
            </a:r>
          </a:p>
        </p:txBody>
      </p:sp>
      <p:pic>
        <p:nvPicPr>
          <p:cNvPr id="129" name="Picture 128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8E6B783-8D73-AB33-C207-92F6472CB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656289" cy="35993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>
                <a:solidFill>
                  <a:srgbClr val="FFFFFF"/>
                </a:solidFill>
              </a:rPr>
              <a:t>Filtering Helps</a:t>
            </a:r>
          </a:p>
          <a:p>
            <a:endParaRPr lang="en-US" sz="2600" dirty="0">
              <a:solidFill>
                <a:srgbClr val="FFFFFF"/>
              </a:solidFill>
            </a:endParaRPr>
          </a:p>
          <a:p>
            <a:r>
              <a:rPr lang="en-US" sz="2600" dirty="0">
                <a:solidFill>
                  <a:srgbClr val="FFFFFF"/>
                </a:solidFill>
              </a:rPr>
              <a:t>New music rules.</a:t>
            </a:r>
          </a:p>
          <a:p>
            <a:endParaRPr lang="en-US" sz="2600" dirty="0">
              <a:solidFill>
                <a:srgbClr val="FFFFFF"/>
              </a:solidFill>
            </a:endParaRPr>
          </a:p>
          <a:p>
            <a:r>
              <a:rPr lang="en-US" sz="2600" dirty="0">
                <a:solidFill>
                  <a:srgbClr val="FFFFFF"/>
                </a:solidFill>
              </a:rPr>
              <a:t>Minimal repeat user/song interactions.</a:t>
            </a:r>
          </a:p>
          <a:p>
            <a:endParaRPr lang="en-US" sz="1400">
              <a:solidFill>
                <a:srgbClr val="FFFFFF"/>
              </a:solidFill>
            </a:endParaRPr>
          </a:p>
        </p:txBody>
      </p:sp>
      <p:sp useBgFill="1">
        <p:nvSpPr>
          <p:cNvPr id="131" name="Rectangle 130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8" descr="Chart, bar chart&#10;&#10;Description automatically generated">
            <a:extLst>
              <a:ext uri="{FF2B5EF4-FFF2-40B4-BE49-F238E27FC236}">
                <a16:creationId xmlns:a16="http://schemas.microsoft.com/office/drawing/2014/main" id="{BF6CA04E-C1A6-BAAC-A4D4-16F272136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3085" y="955591"/>
            <a:ext cx="5209267" cy="4940024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78328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80000">
              <a:schemeClr val="tx1"/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3C12B-3B81-4E18-B0DB-24CF18E08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dirty="0"/>
              <a:t>Key Findings And Insights (cont.)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3FC24-6D88-4891-B940-3C313F487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Algorithms Variance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4C2D4B-E8FB-4BED-9BBE-DF91C70CC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Missing Values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A07435-66BE-4CD7-94A1-971FA28AA4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 The Metrics</a:t>
            </a: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C0CF6BA0-58E2-4DA9-A2FC-823DA4B40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46" y="3641823"/>
            <a:ext cx="2830399" cy="1592099"/>
          </a:xfrm>
          <a:prstGeom prst="rect">
            <a:avLst/>
          </a:prstGeom>
        </p:spPr>
      </p:pic>
      <p:pic>
        <p:nvPicPr>
          <p:cNvPr id="4" name="Picture 5" descr="Diagram&#10;&#10;Description automatically generated">
            <a:extLst>
              <a:ext uri="{FF2B5EF4-FFF2-40B4-BE49-F238E27FC236}">
                <a16:creationId xmlns:a16="http://schemas.microsoft.com/office/drawing/2014/main" id="{B9ED8302-F34E-933B-0C56-CDFDDC995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828" y="3538190"/>
            <a:ext cx="2743199" cy="1813619"/>
          </a:xfrm>
          <a:prstGeom prst="rect">
            <a:avLst/>
          </a:prstGeom>
        </p:spPr>
      </p:pic>
      <p:pic>
        <p:nvPicPr>
          <p:cNvPr id="6" name="Picture 7" descr="Icon&#10;&#10;Description automatically generated">
            <a:extLst>
              <a:ext uri="{FF2B5EF4-FFF2-40B4-BE49-F238E27FC236}">
                <a16:creationId xmlns:a16="http://schemas.microsoft.com/office/drawing/2014/main" id="{F491E44E-93A7-0CA5-7F07-C19AA4CB4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638" y="3424162"/>
            <a:ext cx="2344058" cy="234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58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10">
            <a:extLst>
              <a:ext uri="{FF2B5EF4-FFF2-40B4-BE49-F238E27FC236}">
                <a16:creationId xmlns:a16="http://schemas.microsoft.com/office/drawing/2014/main" id="{01CFC1BB-C5B3-4479-9752-C5322162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Picture 12">
            <a:extLst>
              <a:ext uri="{FF2B5EF4-FFF2-40B4-BE49-F238E27FC236}">
                <a16:creationId xmlns:a16="http://schemas.microsoft.com/office/drawing/2014/main" id="{C56FCE19-3103-4473-A92E-E38D00FCD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32" name="Picture 14">
            <a:extLst>
              <a:ext uri="{FF2B5EF4-FFF2-40B4-BE49-F238E27FC236}">
                <a16:creationId xmlns:a16="http://schemas.microsoft.com/office/drawing/2014/main" id="{E909C556-FC01-4870-ABC0-8D5C17BD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33" name="Rectangle 16">
            <a:extLst>
              <a:ext uri="{FF2B5EF4-FFF2-40B4-BE49-F238E27FC236}">
                <a16:creationId xmlns:a16="http://schemas.microsoft.com/office/drawing/2014/main" id="{C6DB8A24-0DF2-4AB3-9191-C02AB6937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Rectangle 18">
            <a:extLst>
              <a:ext uri="{FF2B5EF4-FFF2-40B4-BE49-F238E27FC236}">
                <a16:creationId xmlns:a16="http://schemas.microsoft.com/office/drawing/2014/main" id="{6924F406-F250-4FCF-A28E-52F364A5A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35" name="Rectangle 20">
            <a:extLst>
              <a:ext uri="{FF2B5EF4-FFF2-40B4-BE49-F238E27FC236}">
                <a16:creationId xmlns:a16="http://schemas.microsoft.com/office/drawing/2014/main" id="{17341052-73F2-435C-A1F0-70961D11B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 descr="A picture containing tent, outdoor object, messy&#10;&#10;Description automatically generated">
            <a:extLst>
              <a:ext uri="{FF2B5EF4-FFF2-40B4-BE49-F238E27FC236}">
                <a16:creationId xmlns:a16="http://schemas.microsoft.com/office/drawing/2014/main" id="{5EB4C083-6A88-4BBE-9392-79DDEC070E1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5">
            <a:alphaModFix amt="15000"/>
            <a:grayscl/>
          </a:blip>
          <a:srcRect t="9091" r="9091"/>
          <a:stretch/>
        </p:blipFill>
        <p:spPr>
          <a:xfrm>
            <a:off x="-10035" y="100084"/>
            <a:ext cx="12192000" cy="68580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4D2D0F6-68B7-4A2F-B80D-B3AAC1F4D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sp>
        <p:nvSpPr>
          <p:cNvPr id="36" name="Rectangle 24">
            <a:extLst>
              <a:ext uri="{FF2B5EF4-FFF2-40B4-BE49-F238E27FC236}">
                <a16:creationId xmlns:a16="http://schemas.microsoft.com/office/drawing/2014/main" id="{A0BCEF11-98AA-4EF8-91CF-8146F6479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C1E9D6-FC71-4BEC-94CD-A04C10974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100" dirty="0"/>
              <a:t>Benefits Of Implementing The Solutions</a:t>
            </a:r>
          </a:p>
        </p:txBody>
      </p:sp>
      <p:pic>
        <p:nvPicPr>
          <p:cNvPr id="37" name="Picture 26">
            <a:extLst>
              <a:ext uri="{FF2B5EF4-FFF2-40B4-BE49-F238E27FC236}">
                <a16:creationId xmlns:a16="http://schemas.microsoft.com/office/drawing/2014/main" id="{DB816C00-E2A2-4A28-A8CB-2E9E10E9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2892C6A-FAAA-49A9-B836-6ECC4D48D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4CEFF-2957-45C6-A23D-7E56162D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1" y="2336873"/>
            <a:ext cx="9613861" cy="339506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28600" algn="ctr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28600" algn="ctr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28600" algn="ctr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28600" algn="ctr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28600" algn="ctr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285750" indent="-228600" algn="ctr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285750" indent="-228600" algn="ctr">
              <a:buFont typeface="Arial" panose="020B0604020202020204" pitchFamily="34" charset="0"/>
              <a:buChar char="•"/>
            </a:pPr>
            <a:r>
              <a:rPr lang="en-US" sz="3000" dirty="0"/>
              <a:t>Condensed dataset, better results.</a:t>
            </a:r>
            <a:endParaRPr lang="en-US" dirty="0"/>
          </a:p>
          <a:p>
            <a:pPr marL="285750" indent="-228600" algn="ctr">
              <a:buChar char="•"/>
            </a:pPr>
            <a:endParaRPr lang="en-US" sz="3000" dirty="0"/>
          </a:p>
          <a:p>
            <a:pPr marL="285750" indent="-228600" algn="ctr">
              <a:buChar char="•"/>
            </a:pPr>
            <a:r>
              <a:rPr lang="en-US" sz="3000" dirty="0"/>
              <a:t>Seeing trends and patterns in data.</a:t>
            </a:r>
          </a:p>
          <a:p>
            <a:pPr marL="285750" indent="-228600" algn="ctr">
              <a:buChar char="•"/>
            </a:pPr>
            <a:endParaRPr lang="en-US" sz="3000" dirty="0"/>
          </a:p>
          <a:p>
            <a:pPr marL="285750" indent="-228600" algn="ctr">
              <a:buChar char="•"/>
            </a:pPr>
            <a:r>
              <a:rPr lang="en-US" sz="3000" dirty="0"/>
              <a:t>Establishes trust and reliability for users.</a:t>
            </a:r>
          </a:p>
          <a:p>
            <a:pPr marL="285750" indent="-228600" algn="ctr">
              <a:buChar char="•"/>
            </a:pPr>
            <a:endParaRPr lang="en-US" sz="3600" dirty="0"/>
          </a:p>
          <a:p>
            <a:pPr marL="285750" indent="-228600" algn="ctr">
              <a:buChar char="•"/>
            </a:pPr>
            <a:endParaRPr lang="en-US" sz="3600" dirty="0"/>
          </a:p>
          <a:p>
            <a:pPr marL="57150" algn="ctr"/>
            <a:endParaRPr lang="en-US" sz="3600" dirty="0"/>
          </a:p>
          <a:p>
            <a:pPr marL="285750" indent="-228600" algn="ctr">
              <a:buChar char="•"/>
            </a:pPr>
            <a:endParaRPr lang="en-US" sz="3600" dirty="0"/>
          </a:p>
          <a:p>
            <a:pPr marL="57150" algn="ctr"/>
            <a:endParaRPr lang="en-US" sz="3600" dirty="0"/>
          </a:p>
          <a:p>
            <a:pPr marL="57150" algn="ctr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70866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9C8D586-1ECD-4981-BED2-97336112C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AFD059-B6BD-4157-98D1-548BEE55D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277804"/>
            <a:ext cx="5299586" cy="1837943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000" b="1" u="sng" dirty="0">
                <a:latin typeface="Rockwell Condensed"/>
              </a:rPr>
              <a:t>Benefits of implementing the solutions (cont.)</a:t>
            </a:r>
          </a:p>
        </p:txBody>
      </p:sp>
      <p:pic>
        <p:nvPicPr>
          <p:cNvPr id="4" name="Picture 3" descr="A picture containing text, cat&#10;&#10;Description automatically generated">
            <a:extLst>
              <a:ext uri="{FF2B5EF4-FFF2-40B4-BE49-F238E27FC236}">
                <a16:creationId xmlns:a16="http://schemas.microsoft.com/office/drawing/2014/main" id="{12D911EE-D2AD-44BD-830D-0565457149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502" r="20451" b="-1"/>
          <a:stretch/>
        </p:blipFill>
        <p:spPr>
          <a:xfrm>
            <a:off x="1" y="10"/>
            <a:ext cx="6066502" cy="685798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2E87D-6A9A-40EC-B050-88BD96BEA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2121408"/>
            <a:ext cx="5299585" cy="322421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300" b="1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/>
            </a:endParaRPr>
          </a:p>
          <a:p>
            <a:r>
              <a:rPr lang="en-US" sz="3000" b="1" dirty="0">
                <a:latin typeface="Times New Roman"/>
                <a:ea typeface="Calibri" panose="020F0502020204030204" pitchFamily="34" charset="0"/>
                <a:cs typeface="Times New Roman"/>
              </a:rPr>
              <a:t>Increased popularity of the recommendation system and higher profits.</a:t>
            </a:r>
            <a:endParaRPr lang="en-US" sz="3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/>
            </a:endParaRPr>
          </a:p>
          <a:p>
            <a:r>
              <a:rPr lang="en-US" sz="3000" b="1" dirty="0">
                <a:latin typeface="Times New Roman"/>
                <a:ea typeface="Calibri" panose="020F0502020204030204" pitchFamily="34" charset="0"/>
                <a:cs typeface="Times New Roman"/>
              </a:rPr>
              <a:t>Benefits all parties involved.</a:t>
            </a:r>
            <a:endParaRPr lang="en-US" sz="3000" b="1" u="sng" dirty="0">
              <a:effectLst/>
              <a:latin typeface="Times New Roman"/>
              <a:ea typeface="Calibri" panose="020F0502020204030204" pitchFamily="34" charset="0"/>
              <a:cs typeface="Times New Roman"/>
            </a:endParaRPr>
          </a:p>
          <a:p>
            <a:r>
              <a:rPr lang="en-US" sz="3000" b="1" dirty="0">
                <a:latin typeface="Times New Roman"/>
                <a:ea typeface="Calibri" panose="020F0502020204030204" pitchFamily="34" charset="0"/>
                <a:cs typeface="Times New Roman"/>
              </a:rPr>
              <a:t>See over time how the final model evolves.</a:t>
            </a:r>
            <a:endParaRPr lang="en-US" sz="3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/>
            </a:endParaRPr>
          </a:p>
          <a:p>
            <a:endParaRPr lang="en-US" sz="13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F001A23-2767-4A31-BD30-56112DE95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182169" y="6258874"/>
            <a:ext cx="831742" cy="398815"/>
            <a:chOff x="11097985" y="6230844"/>
            <a:chExt cx="998090" cy="47857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6BD30CE-7C6B-4C5B-8206-2A912062D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97985" y="6242309"/>
              <a:ext cx="998090" cy="8369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A45EC6-AD58-4CAF-846D-46D82B614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8387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21">
            <a:extLst>
              <a:ext uri="{FF2B5EF4-FFF2-40B4-BE49-F238E27FC236}">
                <a16:creationId xmlns:a16="http://schemas.microsoft.com/office/drawing/2014/main" id="{16DBFAD4-B5FC-442B-A283-381B01B1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B649DC7-8769-4383-A6F2-8F366BA7A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C67FD53-2686-4E0E-BA49-976F78F9A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 useBgFill="1">
        <p:nvSpPr>
          <p:cNvPr id="35" name="Rectangle 25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A108D-FCFE-4253-A35A-6C91203AA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924" y="685800"/>
            <a:ext cx="4920019" cy="202155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500" dirty="0">
                <a:solidFill>
                  <a:schemeClr val="tx1"/>
                </a:solidFill>
              </a:rPr>
              <a:t>Recommendations &amp; Next Steps</a:t>
            </a:r>
          </a:p>
        </p:txBody>
      </p:sp>
      <p:sp>
        <p:nvSpPr>
          <p:cNvPr id="36" name="Freeform: Shape 27">
            <a:extLst>
              <a:ext uri="{FF2B5EF4-FFF2-40B4-BE49-F238E27FC236}">
                <a16:creationId xmlns:a16="http://schemas.microsoft.com/office/drawing/2014/main" id="{9453FF84-60C1-4EA8-B49B-1B8C2D0C5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5859484" cy="6857997"/>
          </a:xfrm>
          <a:custGeom>
            <a:avLst/>
            <a:gdLst>
              <a:gd name="connsiteX0" fmla="*/ 3198825 w 5859484"/>
              <a:gd name="connsiteY0" fmla="*/ 0 h 6857997"/>
              <a:gd name="connsiteX1" fmla="*/ 3962351 w 5859484"/>
              <a:gd name="connsiteY1" fmla="*/ 0 h 6857997"/>
              <a:gd name="connsiteX2" fmla="*/ 4129776 w 5859484"/>
              <a:gd name="connsiteY2" fmla="*/ 128761 h 6857997"/>
              <a:gd name="connsiteX3" fmla="*/ 5859484 w 5859484"/>
              <a:gd name="connsiteY3" fmla="*/ 3718209 h 6857997"/>
              <a:gd name="connsiteX4" fmla="*/ 4624700 w 5859484"/>
              <a:gd name="connsiteY4" fmla="*/ 6845880 h 6857997"/>
              <a:gd name="connsiteX5" fmla="*/ 4612896 w 5859484"/>
              <a:gd name="connsiteY5" fmla="*/ 6857997 h 6857997"/>
              <a:gd name="connsiteX6" fmla="*/ 4017658 w 5859484"/>
              <a:gd name="connsiteY6" fmla="*/ 6857997 h 6857997"/>
              <a:gd name="connsiteX7" fmla="*/ 4173230 w 5859484"/>
              <a:gd name="connsiteY7" fmla="*/ 6719623 h 6857997"/>
              <a:gd name="connsiteX8" fmla="*/ 5443583 w 5859484"/>
              <a:gd name="connsiteY8" fmla="*/ 3718209 h 6857997"/>
              <a:gd name="connsiteX9" fmla="*/ 3355352 w 5859484"/>
              <a:gd name="connsiteY9" fmla="*/ 88079 h 6857997"/>
              <a:gd name="connsiteX10" fmla="*/ 0 w 5859484"/>
              <a:gd name="connsiteY10" fmla="*/ 0 h 6857997"/>
              <a:gd name="connsiteX11" fmla="*/ 2941255 w 5859484"/>
              <a:gd name="connsiteY11" fmla="*/ 0 h 6857997"/>
              <a:gd name="connsiteX12" fmla="*/ 3117080 w 5859484"/>
              <a:gd name="connsiteY12" fmla="*/ 88129 h 6857997"/>
              <a:gd name="connsiteX13" fmla="*/ 5324754 w 5859484"/>
              <a:gd name="connsiteY13" fmla="*/ 3718209 h 6857997"/>
              <a:gd name="connsiteX14" fmla="*/ 4089206 w 5859484"/>
              <a:gd name="connsiteY14" fmla="*/ 6637392 h 6857997"/>
              <a:gd name="connsiteX15" fmla="*/ 3841183 w 5859484"/>
              <a:gd name="connsiteY15" fmla="*/ 6857997 h 6857997"/>
              <a:gd name="connsiteX16" fmla="*/ 0 w 5859484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59484" h="6857997">
                <a:moveTo>
                  <a:pt x="3198825" y="0"/>
                </a:moveTo>
                <a:lnTo>
                  <a:pt x="3962351" y="0"/>
                </a:lnTo>
                <a:lnTo>
                  <a:pt x="4129776" y="128761"/>
                </a:lnTo>
                <a:cubicBezTo>
                  <a:pt x="5186152" y="981944"/>
                  <a:pt x="5859484" y="2273123"/>
                  <a:pt x="5859484" y="3718209"/>
                </a:cubicBezTo>
                <a:cubicBezTo>
                  <a:pt x="5859484" y="4922447"/>
                  <a:pt x="5391893" y="6019805"/>
                  <a:pt x="4624700" y="6845880"/>
                </a:cubicBezTo>
                <a:lnTo>
                  <a:pt x="4612896" y="6857997"/>
                </a:lnTo>
                <a:lnTo>
                  <a:pt x="4017658" y="6857997"/>
                </a:lnTo>
                <a:lnTo>
                  <a:pt x="4173230" y="6719623"/>
                </a:lnTo>
                <a:cubicBezTo>
                  <a:pt x="4958119" y="5951494"/>
                  <a:pt x="5443583" y="4890334"/>
                  <a:pt x="5443583" y="3718209"/>
                </a:cubicBezTo>
                <a:cubicBezTo>
                  <a:pt x="5443583" y="2179795"/>
                  <a:pt x="4607295" y="832535"/>
                  <a:pt x="3355352" y="88079"/>
                </a:cubicBezTo>
                <a:close/>
                <a:moveTo>
                  <a:pt x="0" y="0"/>
                </a:moveTo>
                <a:lnTo>
                  <a:pt x="2941255" y="0"/>
                </a:lnTo>
                <a:lnTo>
                  <a:pt x="3117080" y="88129"/>
                </a:lnTo>
                <a:cubicBezTo>
                  <a:pt x="4432070" y="787221"/>
                  <a:pt x="5324754" y="2150692"/>
                  <a:pt x="5324754" y="3718209"/>
                </a:cubicBezTo>
                <a:cubicBezTo>
                  <a:pt x="5324754" y="4858221"/>
                  <a:pt x="4852591" y="5890308"/>
                  <a:pt x="4089206" y="6637392"/>
                </a:cubicBezTo>
                <a:lnTo>
                  <a:pt x="3841183" y="6857997"/>
                </a:lnTo>
                <a:lnTo>
                  <a:pt x="0" y="685799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Placeholder 5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73F20E54-9BC9-4999-BA04-D17D5CE97D9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4"/>
          <a:srcRect l="24941" r="16172" b="-1"/>
          <a:stretch/>
        </p:blipFill>
        <p:spPr>
          <a:xfrm>
            <a:off x="1" y="2"/>
            <a:ext cx="6095695" cy="6857997"/>
          </a:xfrm>
          <a:custGeom>
            <a:avLst/>
            <a:gdLst/>
            <a:ahLst/>
            <a:cxnLst/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9786E-67B3-4DB1-85FB-2309624C0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0924" y="2927444"/>
            <a:ext cx="4920019" cy="324475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</a:rPr>
              <a:t>Further testing of final model.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pPr indent="-182880">
              <a:lnSpc>
                <a:spcPct val="90000"/>
              </a:lnSpc>
              <a:buClr>
                <a:srgbClr val="9E3611"/>
              </a:buClr>
              <a:buFont typeface="Wingdings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</a:rPr>
              <a:t>Best algorithm?</a:t>
            </a: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</a:rPr>
              <a:t>Trial period of final model to add more data.</a:t>
            </a:r>
          </a:p>
          <a:p>
            <a:pPr indent="-182880">
              <a:lnSpc>
                <a:spcPct val="90000"/>
              </a:lnSpc>
              <a:buClr>
                <a:srgbClr val="9E3611"/>
              </a:buClr>
              <a:buFont typeface="Wingdings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</a:rPr>
              <a:t>Content information revisions (ex. Model bias?).</a:t>
            </a:r>
            <a:endParaRPr lang="en-US" sz="3000" dirty="0">
              <a:solidFill>
                <a:schemeClr val="tx1"/>
              </a:solidFill>
              <a:effectLst/>
            </a:endParaRP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8774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6DBFAD4-B5FC-442B-A283-381B01B1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B649DC7-8769-4383-A6F2-8F366BA7A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67FD53-2686-4E0E-BA49-976F78F9A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0B2F2DBF-D578-84DD-F386-7D62C83C509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4"/>
          <a:srcRect t="9329" b="15671"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837459"/>
            <a:ext cx="10222992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981573"/>
            <a:ext cx="10222992" cy="2078335"/>
          </a:xfrm>
          <a:prstGeom prst="rect">
            <a:avLst/>
          </a:prstGeom>
          <a:blipFill dpi="0" rotWithShape="1">
            <a:blip r:embed="rId5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DB207D-4225-4314-9A4F-2E0CAD57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456" y="4162031"/>
            <a:ext cx="4543683" cy="1767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 b="1" u="sng"/>
              <a:t>Conclusion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C192C6-5B2D-0031-AD81-7EF99C4B6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17920" y="4170410"/>
            <a:ext cx="4699221" cy="1767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3000" b="1" dirty="0">
                <a:solidFill>
                  <a:schemeClr val="tx1"/>
                </a:solidFill>
              </a:rPr>
              <a:t>Thanks For A Great Class Everyone And Good Luck With All Future Endeavors!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128670"/>
            <a:ext cx="10222992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7029579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271</TotalTime>
  <Words>76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Berlin</vt:lpstr>
      <vt:lpstr>Wood Type</vt:lpstr>
      <vt:lpstr>Capstone project on music recommendation systems  </vt:lpstr>
      <vt:lpstr>Overview Of The Problem</vt:lpstr>
      <vt:lpstr>Identifying Demographics  Filtering Dataset  Interactions by year.</vt:lpstr>
      <vt:lpstr>Approach for the solution(cont.)</vt:lpstr>
      <vt:lpstr>Key Findings &amp; Insights</vt:lpstr>
      <vt:lpstr>Key Findings And Insights (cont.)</vt:lpstr>
      <vt:lpstr>Benefits Of Implementing The Solutions</vt:lpstr>
      <vt:lpstr>Benefits of implementing the solutions (cont.)</vt:lpstr>
      <vt:lpstr>Recommendations &amp; Next Steps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Sean McLean</dc:creator>
  <cp:lastModifiedBy>Sean McLean</cp:lastModifiedBy>
  <cp:revision>339</cp:revision>
  <dcterms:created xsi:type="dcterms:W3CDTF">2021-12-14T05:58:37Z</dcterms:created>
  <dcterms:modified xsi:type="dcterms:W3CDTF">2022-12-16T05:17:20Z</dcterms:modified>
</cp:coreProperties>
</file>